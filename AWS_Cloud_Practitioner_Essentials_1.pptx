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90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7CE7-09C6-A8AE-090E-8AF59DC4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7E0F5-0021-2518-F852-2C6D7778A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5588D-29A1-282F-5015-173F9DD53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B986C-9630-090D-B6A0-45A014B60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30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EA29-B398-3E5E-CEFE-196743E2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EDE9C-46E5-8279-1C61-1062485D4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5C79A-5538-3E32-D115-81C4BF67E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6147F-4393-8110-DE3A-CB3A69645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61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CLOUD PRACTITIONER ESSENTIALS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Services &amp; Networking Fundamentals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 •  S3  •  EBS  •  EFS  •  VPC  •  CIDR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</a:rPr>
              <a:t>Exam-focused walkthrough of AWS compute, storage, and network addressing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280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Identity &amp; Access (IAM)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Who can do what — users, groups, roles &amp; policies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1430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55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12801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Compute Foundations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691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EC2 — the virtual server at the heart of AWS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Storage Family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S3 vs EBS vs EFS — how &amp; where data lives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25146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355080" y="2697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S3 Deep Dive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063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Storage classes, Versioning, MFA Delete, Object Lock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EBS &amp; EFS Deep Dive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4434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Volume types, Snapshots &amp; shared elastic file storage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8862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55080" y="4069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55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9440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Modern Databases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4434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Aurora &amp; DynamoDB — managed relational and NoSQL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53949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Networking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25880" y="58064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VPC, Subnets, CIDR notation &amp; IP math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IAM — Identity &amp; Access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Controls WHO can do WHAT to WHICH AWS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9900"/>
                </a:solidFill>
              </a:rPr>
              <a:t>CORE ENTITIES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457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848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4231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ADCFC"/>
                </a:solidFill>
              </a:rPr>
              <a:t>An individual identity (person or app) with long-term credentials — username/password or access keys.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3205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449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383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ADCFC"/>
                </a:solidFill>
              </a:rPr>
              <a:t>A collection of Users. Attach a policy once to the group; every member inherits the permissions.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1660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005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Roles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08760" y="43434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ADCFC"/>
                </a:solidFill>
              </a:rPr>
              <a:t>A temporary identity assumed by a user, service, or app — no long-term credentials, just short-lived tokens.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22960" y="4983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512612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651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Policies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508760" y="53035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ADCFC"/>
                </a:solidFill>
              </a:rPr>
              <a:t>JSON documents that explicitly Allow or Deny actions on specific resources.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617220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446" y="183428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Key Principles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400800" y="219456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Least Privilege: </a:t>
            </a:r>
            <a:r>
              <a:rPr lang="en-US" sz="1150" dirty="0">
                <a:solidFill>
                  <a:srgbClr val="152238"/>
                </a:solidFill>
              </a:rPr>
              <a:t>grant only the permissions needed, nothing more.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Deny by default: </a:t>
            </a:r>
            <a:r>
              <a:rPr lang="en-US" sz="1150" dirty="0">
                <a:solidFill>
                  <a:srgbClr val="152238"/>
                </a:solidFill>
              </a:rPr>
              <a:t>if no policy explicitly allows an action, it's denied.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Explicit Deny wins: </a:t>
            </a:r>
            <a:r>
              <a:rPr lang="en-US" sz="1150" dirty="0">
                <a:solidFill>
                  <a:srgbClr val="152238"/>
                </a:solidFill>
              </a:rPr>
              <a:t>an explicit Deny always overrides an Allow.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17220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6400800" y="39776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1559" y="4108399"/>
            <a:ext cx="241402" cy="24140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40880" y="4005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</a:rPr>
              <a:t>Exam POV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400800" y="443484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IAM is global </a:t>
            </a:r>
            <a:r>
              <a:rPr lang="en-US" sz="1100" dirty="0">
                <a:solidFill>
                  <a:srgbClr val="152238"/>
                </a:solidFill>
              </a:rPr>
              <a:t>— not tied to any one Region.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Root user </a:t>
            </a:r>
            <a:r>
              <a:rPr lang="en-US" sz="1100" dirty="0">
                <a:solidFill>
                  <a:srgbClr val="152238"/>
                </a:solidFill>
              </a:rPr>
              <a:t>should never be used day-to-day; lock it down with MFA.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Roles, not keys, </a:t>
            </a:r>
            <a:r>
              <a:rPr lang="en-US" sz="1100" dirty="0">
                <a:solidFill>
                  <a:srgbClr val="152238"/>
                </a:solidFill>
              </a:rPr>
              <a:t>are the best practice for EC2 instances and cross-account access — avoid hardcoding access keys.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MFA </a:t>
            </a:r>
            <a:r>
              <a:rPr lang="en-US" sz="1100" dirty="0">
                <a:solidFill>
                  <a:srgbClr val="152238"/>
                </a:solidFill>
              </a:rPr>
              <a:t>adds a second verification factor for sensitive actions.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Elastic Compute Cloud — resizable virtual servers in the cloud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192024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322" y="225308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Virtual Machine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Runs your OS + apps 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shared physical hardware,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fully isolated per instance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FB3C8"/>
                </a:solidFill>
              </a:rPr>
              <a:t>You choose: vCPUs, RAM, storage,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9FB3C8"/>
                </a:solidFill>
              </a:rPr>
              <a:t>network performance &amp; instance type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9FB3C8"/>
                </a:solidFill>
              </a:rPr>
              <a:t>(e.g. t3.micro, m5.large)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0520" y="150876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627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14813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</a:rPr>
              <a:t>On-Demand Pricing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1856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</a:rPr>
              <a:t>Pay by the second/hour with no upfront commitment — ideal for unpredictable workloads.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60520" y="256032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267919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5328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</a:rPr>
              <a:t>Elasticity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754880" y="29077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</a:rPr>
              <a:t>Launch, stop, resize, or terminate instances in minutes as demand changes.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60520" y="361188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7307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54880" y="3584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</a:rPr>
              <a:t>Instance Types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754880" y="395935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</a:rPr>
              <a:t>Families optimized for general purpose, compute, memory, or storage needs.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160520" y="4663440"/>
            <a:ext cx="457200" cy="45720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478231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54880" y="46360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</a:rPr>
              <a:t>Security Groups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4754880" y="501091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</a:rPr>
              <a:t>Virtual firewall controlling inbound/outbound traffic at the instance level.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AWS Storage Family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B7B"/>
                </a:solidFill>
              </a:rPr>
              <a:t>Three very different ways to store data — pick based on shape, sharing, and speed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88820" y="164592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18361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907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6E8EE"/>
                </a:solidFill>
              </a:rPr>
              <a:t>Object Storage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Flat objects, accessed via HTTP/REST from anywhere. Region-wide, 11 nines durability.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75020" y="16459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215" y="18361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468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EBS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34840" y="2907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6E8EE"/>
                </a:solidFill>
              </a:rPr>
              <a:t>Block Storage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091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Raw disk blocks attached to ONE EC2 instance, in ONE Availability Zone. Local-drive speed.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21040" y="141732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761220" y="1645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5" y="18361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468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EFS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21040" y="29077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6E8EE"/>
                </a:solidFill>
              </a:rPr>
              <a:t>File Storage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5953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Traditional folder hierarchy, mounted by MANY instances at once via NFSv4. Elastic capacity.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</a:rPr>
              <a:t>Quick rule of thumb:  </a:t>
            </a:r>
            <a:r>
              <a:rPr lang="en-US" sz="1250" dirty="0">
                <a:solidFill>
                  <a:srgbClr val="5A6B7B"/>
                </a:solidFill>
              </a:rPr>
              <a:t>S3 = files for the internet   |   EBS = hard drive for one server   |   EFS = shared drive for many servers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64240" cy="1234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238"/>
                          </a:solidFill>
                        </a:rPr>
                        <a:t>Structure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Objects (flat)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Raw blocks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File hierarchy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238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Whole Region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Single AZ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Whole Region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238"/>
                          </a:solidFill>
                        </a:rPr>
                        <a:t>Attach point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Anywhere (HTTPS)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One EC2 instance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238"/>
                          </a:solidFill>
                        </a:rPr>
                        <a:t>Many EC2 / on-prem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— Simple Storage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How &amp; Where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</a:rPr>
              <a:t>Stored as objects </a:t>
            </a:r>
            <a:r>
              <a:rPr lang="en-US" sz="1250" dirty="0">
                <a:solidFill>
                  <a:srgbClr val="152238"/>
                </a:solidFill>
              </a:rPr>
              <a:t>— data + metadata + a unique key. No real folders; “directories” are just name prefixes.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</a:rPr>
              <a:t>Replicated across ≥3 AZs </a:t>
            </a:r>
            <a:r>
              <a:rPr lang="en-US" sz="1250" dirty="0">
                <a:solidFill>
                  <a:srgbClr val="152238"/>
                </a:solidFill>
              </a:rPr>
              <a:t>automatically within the chosen Region — no manual replication needed.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</a:rPr>
              <a:t>Accessed over HTTP/HTTPS </a:t>
            </a:r>
            <a:r>
              <a:rPr lang="en-US" sz="1250" dirty="0">
                <a:solidFill>
                  <a:srgbClr val="152238"/>
                </a:solidFill>
              </a:rPr>
              <a:t>via REST API, SDKs, CLI, or a unique URL endpoint — from anywhere.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2238"/>
                </a:solidFill>
              </a:rPr>
              <a:t>11 nines durability </a:t>
            </a:r>
            <a:r>
              <a:rPr lang="en-US" sz="1250" dirty="0">
                <a:solidFill>
                  <a:srgbClr val="152238"/>
                </a:solidFill>
              </a:rPr>
              <a:t>(99.999999999%) and fully serverless — no capacity to provision.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</a:rPr>
              <a:t>Best for: media uploads, static websites, data lakes, backups &amp; archives.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1430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35508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9900"/>
                </a:solidFill>
              </a:rPr>
              <a:t>THROUGHPUT &amp; SCALE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Thousands of requests/sec,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scaling into GB/s — automatically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2468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Latency: low double-digit milliseconds (higher than local disk, but global reach)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35204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55080" y="37490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387979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Exam POV: Storage Classes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355080" y="4251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Standard </a:t>
            </a:r>
            <a:r>
              <a:rPr lang="en-US" sz="1150" dirty="0">
                <a:solidFill>
                  <a:srgbClr val="152238"/>
                </a:solidFill>
              </a:rPr>
              <a:t>→ frequent access (default)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Standard-IA / One Zone-IA </a:t>
            </a:r>
            <a:r>
              <a:rPr lang="en-US" sz="1150" dirty="0">
                <a:solidFill>
                  <a:srgbClr val="152238"/>
                </a:solidFill>
              </a:rPr>
              <a:t>→ infrequent, retrieval fee applies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Intelligent-Tiering </a:t>
            </a:r>
            <a:r>
              <a:rPr lang="en-US" sz="1150" dirty="0">
                <a:solidFill>
                  <a:srgbClr val="152238"/>
                </a:solidFill>
              </a:rPr>
              <a:t>→ auto-moves data to save cost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Glacier (Instant/Flexible/Deep Archive) </a:t>
            </a:r>
            <a:r>
              <a:rPr lang="en-US" sz="1150" dirty="0">
                <a:solidFill>
                  <a:srgbClr val="152238"/>
                </a:solidFill>
              </a:rPr>
              <a:t>→ cheapest, archival, ms–12hr retrieval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Data Protection: Versioning, MFA Delete &amp; Object Lock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4346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1. Versioning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Keeps every version of an object with a unique version ID.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Deletes are soft — S3 adds a Delete Marker instead of erasing data; removing the marker restores the file.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You pay for storage of ALL versions kept.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🚨 Once enabled, can only be suspended — never fully disabled.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Pair with Lifecycle Rules to move old versions to Glacier and cut cost.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05156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974" y="14346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2. MFA Delete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709160" y="20574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Requires a valid MFA code to permanently delete a version or suspend Versioning.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🚨 Requires Versioning to be enabled first.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🚨 Can only be enabled by the AWS Root User — not regular IAM admins.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🚨 Configurable only via AWS CLI, not the Console.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051560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549640" y="12801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174" y="14346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</a:rPr>
              <a:t>3. Object Lock (WORM)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595360" y="20574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Write-Once-Read-Many — blocks deletion/overwrite for a set period or indefinitely.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Governance Mode: special IAM permissions CAN bypass the lock.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Compliance Mode: NO ONE, not even Root, can delete until retention expires.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Legal Hold: indefinite lock removed only by an authorized user.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52238"/>
                </a:solidFill>
              </a:rPr>
              <a:t>🚨 Requires Versioning to be enabled.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EBS — Elastic Block Store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A virtual hard drive, plugged directly into one EC2 instance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Raw, unformatted blocks — your OS manages the file system, just like a physical SSD/HDD.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Locked to ONE Availability Zone — the drive lives in the same data center as its EC2 instance.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Attached to exactly one EC2 instance at a time (rare Multi-Attach exceptions for io2).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Ultra-low latency: single-digit or sub-millisecond — local-drive speed.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754880"/>
            <a:ext cx="4709160" cy="12344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51560" y="4846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9900"/>
                </a:solidFill>
              </a:rPr>
              <a:t>VOLUME TYPES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5120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F0F5"/>
                </a:solidFill>
              </a:rPr>
              <a:t>gp2/gp3 (SSD) </a:t>
            </a:r>
            <a:r>
              <a:rPr lang="en-US" sz="1050" dirty="0">
                <a:solidFill>
                  <a:srgbClr val="E6F0F5"/>
                </a:solidFill>
              </a:rPr>
              <a:t>general purpose, default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F0F5"/>
                </a:solidFill>
              </a:rPr>
              <a:t>io1/io2 (SSD) </a:t>
            </a:r>
            <a:r>
              <a:rPr lang="en-US" sz="1050" dirty="0">
                <a:solidFill>
                  <a:srgbClr val="E6F0F5"/>
                </a:solidFill>
              </a:rPr>
              <a:t>highest performance, mission-critical DBs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6F0F5"/>
                </a:solidFill>
              </a:rPr>
              <a:t>st1 / sc1 (HDD) </a:t>
            </a:r>
            <a:r>
              <a:rPr lang="en-US" sz="1050" dirty="0">
                <a:solidFill>
                  <a:srgbClr val="E6F0F5"/>
                </a:solidFill>
              </a:rPr>
              <a:t>cheap, big-data — can't boot from these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189189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Snapshots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4652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Point-in-time, incremental backups of a volume — stored automatically in S3 (managed by AWS).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46520" y="3063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238"/>
                </a:solidFill>
              </a:rPr>
              <a:t>Incremental: </a:t>
            </a:r>
            <a:r>
              <a:rPr lang="en-US" sz="1150" dirty="0">
                <a:solidFill>
                  <a:srgbClr val="152238"/>
                </a:solidFill>
              </a:rPr>
              <a:t>first snapshot backs up the full volume; later snapshots only capture changed blocks — saves time &amp; money.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46520" y="3931920"/>
            <a:ext cx="502920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44652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</a:rPr>
              <a:t>🚨 Move to another AZ/Region: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46520" y="42245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Snapshot → Copy to new region → Create new volume from it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46520" y="4983480"/>
            <a:ext cx="50292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44652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</a:rPr>
              <a:t>🚨 Encrypt an unencrypted volume: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46520" y="52760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</a:rPr>
              <a:t>Snapshot → Copy with "Encrypt" checked → Create new encrypted volume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EFS — Elastic File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One shared folder, mounted by thousands of servers at once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Many instances, one file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394814"/>
            <a:ext cx="285293" cy="285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" y="3063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3217774"/>
            <a:ext cx="285293" cy="2852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68680" y="38862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4040734"/>
            <a:ext cx="285293" cy="28529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463040" y="2532888"/>
            <a:ext cx="1188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463040" y="3355848"/>
            <a:ext cx="1188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463040" y="4178808"/>
            <a:ext cx="1188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2697480" y="27432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096" y="3099816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9748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</a:rPr>
              <a:t>NFSv4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22960" y="47548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8"/>
                </a:solidFill>
              </a:rPr>
              <a:t>Mounted simultaneously by tens to thousands of EC2 instances or on-prem servers via the standard NFSv4 protocol.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1508760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1615745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Auto-elastic capacity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257800" y="18105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Grows and shrinks automatically as files are added/removed — never pre-provision size.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709160" y="2313432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2420417"/>
            <a:ext cx="197510" cy="19751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Region-wide redundancy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257800" y="26151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Spans multiple AZs automatically within the Region.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709160" y="3118104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3225089"/>
            <a:ext cx="197510" cy="19751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5780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Storage classes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5257800" y="34198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Standard + Infrequent Access (EFS-IA) tiers, plus a cheaper EFS One Zone option.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4709160" y="3922776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4029761"/>
            <a:ext cx="197510" cy="19751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57800" y="38953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Performance modes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5257800" y="4224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General Purpose (most workloads) vs Max I/O (massive parallel jobs, higher latency).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4709160" y="4727448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4834433"/>
            <a:ext cx="197510" cy="19751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57800" y="47000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Throughput modes</a:t>
            </a:r>
            <a:endParaRPr lang="en-US" sz="1350" dirty="0"/>
          </a:p>
        </p:txBody>
      </p:sp>
      <p:sp>
        <p:nvSpPr>
          <p:cNvPr id="38" name="Text 27"/>
          <p:cNvSpPr/>
          <p:nvPr/>
        </p:nvSpPr>
        <p:spPr>
          <a:xfrm>
            <a:off x="525780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Elastic (auto-scales) vs Provisioned (you set a fixed rate).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4709160" y="5532120"/>
            <a:ext cx="411480" cy="411480"/>
          </a:xfrm>
          <a:prstGeom prst="ellipse">
            <a:avLst/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145" y="5639105"/>
            <a:ext cx="197510" cy="19751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57800" y="5504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</a:rPr>
              <a:t>POSIX permissions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5257800" y="58338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</a:rPr>
              <a:t>Standard Linux access control — chmod, chown — works as expected.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Managed Databases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Amazon Aurora &amp; DynamoDB — relational power and NoSQL scale, fully 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18699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55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Amazon Aurora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</a:rPr>
              <a:t>MySQL &amp; PostgreSQL-compatible relational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F4F8"/>
                </a:solidFill>
              </a:rPr>
              <a:t>Up to 5x faster </a:t>
            </a:r>
            <a:r>
              <a:rPr lang="en-US" sz="1250" dirty="0">
                <a:solidFill>
                  <a:srgbClr val="EAF4F8"/>
                </a:solidFill>
              </a:rPr>
              <a:t>than standard MySQL and 3x faster than standard PostgreSQL on comparable hardware.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F4F8"/>
                </a:solidFill>
              </a:rPr>
              <a:t>Storage auto-scales </a:t>
            </a:r>
            <a:r>
              <a:rPr lang="en-US" sz="1250" dirty="0">
                <a:solidFill>
                  <a:srgbClr val="EAF4F8"/>
                </a:solidFill>
              </a:rPr>
              <a:t>in 10GB increments up to 128TB — no manual provisioning.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F4F8"/>
                </a:solidFill>
              </a:rPr>
              <a:t>6 copies of data </a:t>
            </a:r>
            <a:r>
              <a:rPr lang="en-US" sz="1250" dirty="0">
                <a:solidFill>
                  <a:srgbClr val="EAF4F8"/>
                </a:solidFill>
              </a:rPr>
              <a:t>replicated across 3 Availability Zones automatically for durability.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F4F8"/>
                </a:solidFill>
              </a:rPr>
              <a:t>Aurora Serverless </a:t>
            </a:r>
            <a:r>
              <a:rPr lang="en-US" sz="1250" dirty="0">
                <a:solidFill>
                  <a:srgbClr val="EAF4F8"/>
                </a:solidFill>
              </a:rPr>
              <a:t>automatically scales compute capacity up/down based on load.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F4F8"/>
                </a:solidFill>
              </a:rPr>
              <a:t>Transactional</a:t>
            </a:r>
            <a:r>
              <a:rPr lang="en-US" sz="1250" dirty="0">
                <a:solidFill>
                  <a:srgbClr val="EAF4F8"/>
                </a:solidFill>
              </a:rPr>
              <a:t> Type of Database.</a:t>
            </a:r>
          </a:p>
          <a:p>
            <a:pPr marL="0" indent="0">
              <a:spcAft>
                <a:spcPts val="400"/>
              </a:spcAft>
              <a:buNone/>
            </a:pPr>
            <a:endParaRPr lang="en-US" sz="1250" dirty="0">
              <a:solidFill>
                <a:srgbClr val="EAF4F8"/>
              </a:solidFill>
            </a:endParaRPr>
          </a:p>
          <a:p>
            <a:pPr>
              <a:spcAft>
                <a:spcPts val="400"/>
              </a:spcAft>
            </a:pPr>
            <a:r>
              <a:rPr lang="en-US" sz="1250" b="1" u="sng" dirty="0">
                <a:solidFill>
                  <a:srgbClr val="E6F0F5"/>
                </a:solidFill>
              </a:rPr>
              <a:t>Note: Fully Managed but not Serverless</a:t>
            </a:r>
          </a:p>
          <a:p>
            <a:pPr marL="0" indent="0">
              <a:spcAft>
                <a:spcPts val="400"/>
              </a:spcAft>
              <a:buNone/>
            </a:pPr>
            <a:endParaRPr lang="en-US" sz="1250" dirty="0">
              <a:solidFill>
                <a:srgbClr val="EAF4F8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250" dirty="0">
              <a:solidFill>
                <a:srgbClr val="EAF4F8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250" dirty="0">
              <a:solidFill>
                <a:srgbClr val="EAF4F8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250" dirty="0">
              <a:solidFill>
                <a:srgbClr val="EAF4F8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18699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Amazon DynamoDB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2694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3C8"/>
                </a:solidFill>
              </a:rPr>
              <a:t>Fully managed key-value &amp; document NoSQL store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46520" y="2834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6F0F5"/>
                </a:solidFill>
              </a:rPr>
              <a:t>Single-digit millisecond </a:t>
            </a:r>
            <a:r>
              <a:rPr lang="en-US" sz="1250" dirty="0">
                <a:solidFill>
                  <a:srgbClr val="E6F0F5"/>
                </a:solidFill>
              </a:rPr>
              <a:t>performance at any scale.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6F0F5"/>
                </a:solidFill>
              </a:rPr>
              <a:t>Upto</a:t>
            </a:r>
            <a:r>
              <a:rPr lang="en-US" sz="1250" dirty="0">
                <a:solidFill>
                  <a:srgbClr val="E6F0F5"/>
                </a:solidFill>
              </a:rPr>
              <a:t> 20 Million requests/second, 10 Trillion requests/day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6F0F5"/>
                </a:solidFill>
              </a:rPr>
              <a:t>Serverless &amp; fully managed </a:t>
            </a:r>
            <a:r>
              <a:rPr lang="en-US" sz="1250" dirty="0">
                <a:solidFill>
                  <a:srgbClr val="E6F0F5"/>
                </a:solidFill>
              </a:rPr>
              <a:t>— no servers to provision or patch.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6F0F5"/>
                </a:solidFill>
              </a:rPr>
              <a:t>On-Demand or Provisioned capacity </a:t>
            </a:r>
            <a:r>
              <a:rPr lang="en-US" sz="1250" dirty="0">
                <a:solidFill>
                  <a:srgbClr val="E6F0F5"/>
                </a:solidFill>
              </a:rPr>
              <a:t>modes for read/write throughput.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6F0F5"/>
                </a:solidFill>
              </a:rPr>
              <a:t>DAX (DynamoDB Accelerator) </a:t>
            </a:r>
            <a:r>
              <a:rPr lang="en-US" sz="1250" dirty="0">
                <a:solidFill>
                  <a:srgbClr val="E6F0F5"/>
                </a:solidFill>
              </a:rPr>
              <a:t>adds an in-memory cache for microsecond reads.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E6F0F5"/>
                </a:solidFill>
              </a:rPr>
              <a:t>Fully Managed </a:t>
            </a:r>
            <a:r>
              <a:rPr lang="en-US" sz="1250" b="1" dirty="0">
                <a:solidFill>
                  <a:srgbClr val="E6F0F5"/>
                </a:solidFill>
              </a:rPr>
              <a:t>NoSQL Key-value </a:t>
            </a:r>
            <a:r>
              <a:rPr lang="en-US" sz="1250" dirty="0">
                <a:solidFill>
                  <a:srgbClr val="E6F0F5"/>
                </a:solidFill>
              </a:rPr>
              <a:t>database</a:t>
            </a:r>
          </a:p>
          <a:p>
            <a:pPr marL="0" indent="0">
              <a:buNone/>
            </a:pPr>
            <a:endParaRPr lang="en-US" sz="1250" dirty="0">
              <a:solidFill>
                <a:srgbClr val="E6F0F5"/>
              </a:solidFill>
            </a:endParaRPr>
          </a:p>
          <a:p>
            <a:pPr marL="0" indent="0">
              <a:buNone/>
            </a:pPr>
            <a:r>
              <a:rPr lang="en-US" sz="1250" b="1" u="sng" dirty="0">
                <a:solidFill>
                  <a:srgbClr val="E6F0F5"/>
                </a:solidFill>
              </a:rPr>
              <a:t>Note: Serverless + Fully Managed</a:t>
            </a:r>
          </a:p>
          <a:p>
            <a:pPr marL="0" indent="0">
              <a:buNone/>
            </a:pPr>
            <a:endParaRPr lang="en-US" sz="1250" dirty="0">
              <a:solidFill>
                <a:srgbClr val="E6F0F5"/>
              </a:solidFill>
            </a:endParaRPr>
          </a:p>
          <a:p>
            <a:pPr marL="0" indent="0">
              <a:buNone/>
            </a:pPr>
            <a:endParaRPr lang="en-US" sz="1250" dirty="0">
              <a:solidFill>
                <a:srgbClr val="E6F0F5"/>
              </a:solidFill>
            </a:endParaRP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Networking: VPC, Subnets &amp; Private 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Your own private, blank-canvas network inside AWS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9293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9164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</a:rPr>
              <a:t>A CIDR block (e.g. 10.0.0.0/24) is you telling AWS:  </a:t>
            </a:r>
            <a:r>
              <a:rPr lang="en-US" sz="1450" b="1" i="1" dirty="0">
                <a:solidFill>
                  <a:srgbClr val="FFFFFF"/>
                </a:solidFill>
              </a:rPr>
              <a:t>“Give me a pool of blank, private IPs and put them in a bucket for me.”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</a:rPr>
              <a:t>Who actually gets assigned these IPs?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645920" y="3886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679" y="4016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</a:rPr>
              <a:t>EC2 Instances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4919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</a:rPr>
              <a:t>Every server needs its own private IP to exist on the network.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29000" y="37033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039" y="4016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</a:rPr>
              <a:t>Databases (RDS)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66160" y="4919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</a:rPr>
              <a:t>Needs an IP so app servers can send it queries.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309360" y="37033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406640" y="3886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399" y="40169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</a:rPr>
              <a:t>Load Balancers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46520" y="4919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</a:rPr>
              <a:t>Distributing traffic itself consumes IP addresses.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189720" y="370332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10287000" y="3886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759" y="40169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0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1295C"/>
                </a:solidFill>
              </a:rPr>
              <a:t>NAT Gateways / Endpoints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326880" y="4919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</a:rPr>
              <a:t>Internal routing services also use up your pool.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713232" y="5779008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8978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8"/>
                </a:solidFill>
              </a:rPr>
              <a:t>A /28 subnet has only 16 IPs. Try to launch a 17th EC2 instance → AWS blocks IT, not your users. You've simply run out of addresses to assign.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“Classless”? The History Behind CIDR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</a:rPr>
              <a:t>CIDR (1993) replaced a rigid, wasteful system of fixed IP “Classes”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0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</a:rPr>
              <a:t>BEFORE: Classful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Class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8"/>
                </a:solidFill>
              </a:rPr>
              <a:t>16,777,214 IPs — massive networks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999232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0906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Class 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090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8"/>
                </a:solidFill>
              </a:rPr>
              <a:t>65,534 IPs — medium networks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803904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38953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Class 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895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2238"/>
                </a:solidFill>
              </a:rPr>
              <a:t>254 IPs — small networks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042"/>
                </a:solidFill>
              </a:rPr>
              <a:t>The problem: </a:t>
            </a:r>
            <a:r>
              <a:rPr lang="en-US" sz="1250" dirty="0">
                <a:solidFill>
                  <a:srgbClr val="152238"/>
                </a:solidFill>
              </a:rPr>
              <a:t>a company needing 500 IPs had to take an entire Class B (65,534 IPs) — wasting 65,034 of them. No middle ground existed.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E8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8C4B"/>
                </a:solidFill>
              </a:rPr>
              <a:t>AFTER: Classless (CIDR)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52238"/>
                </a:solidFill>
              </a:rPr>
              <a:t>Slices the IP pool into custom-sized blocks using slash notation </a:t>
            </a:r>
            <a:r>
              <a:rPr lang="en-US" sz="1250" b="1" dirty="0">
                <a:solidFill>
                  <a:srgbClr val="1C8C4B"/>
                </a:solidFill>
              </a:rPr>
              <a:t>(/22, /23, /24, ...)</a:t>
            </a:r>
            <a:r>
              <a:rPr lang="en-US" sz="1250" dirty="0">
                <a:solidFill>
                  <a:srgbClr val="152238"/>
                </a:solidFill>
              </a:rPr>
              <a:t> — no rigid class boundaries.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108960"/>
            <a:ext cx="4937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294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Need exactly 500 IPs?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611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Use a /23 network → exactly 510 usable IPs.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52238"/>
                </a:solidFill>
              </a:rPr>
              <a:t>Almost zero waste.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B"/>
                </a:solidFill>
              </a:rPr>
              <a:t>In short: CIDR ignores the old Class A/B/C boundaries, letting you cut the network “pie” into whatever slice size you actually need.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CIDR Notation — The “Slash” Explained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0" y="13258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21792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Network portion (fixed)         Host bits (free for devices)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0F5"/>
                </a:solidFill>
              </a:rPr>
              <a:t>32 bits total in an IPv4 address — the number after the slash = bits locked for the network; the rest are free for devices.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Formula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IPs  =  2^(32 − prefix)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5394960" cy="19781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CIDR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Host bits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Total IPs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/24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32 − 24 = 8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2^8 = 256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/28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32 − 28 = 4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2^4 = 16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/23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32 − 23 = 9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2^9 = 512 (510 usable)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/32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2238"/>
                          </a:solidFill>
                        </a:rPr>
                        <a:t>1 (a single host — max address 255.255.255.255)</a:t>
                      </a:r>
                      <a:endParaRPr lang="en-US" sz="1150" dirty="0"/>
                    </a:p>
                  </a:txBody>
                  <a:tcPr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63640" y="27889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537960" y="30175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94" y="31720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Remember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3611880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6F6"/>
                </a:solidFill>
              </a:rPr>
              <a:t>Smaller number after the slash = bigger network 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6F6"/>
                </a:solidFill>
              </a:rPr>
              <a:t>(more host bits free).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AF6F6"/>
                </a:solidFill>
              </a:rPr>
              <a:t>Larger number after the slash = smaller network 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6F6"/>
                </a:solidFill>
              </a:rPr>
              <a:t>(fewer host bits free).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AF6F6"/>
                </a:solidFill>
              </a:rPr>
              <a:t>Max possible IP address is 255.255.255.255 — written as 255.255.255.255/32, a network of exactly one address.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EBA2F-6390-4A25-43B7-93C626C6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AE9EA395-483B-BF04-27C7-0B623B4BE27F}"/>
              </a:ext>
            </a:extLst>
          </p:cNvPr>
          <p:cNvSpPr/>
          <p:nvPr/>
        </p:nvSpPr>
        <p:spPr>
          <a:xfrm>
            <a:off x="822960" y="2194560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A45294-DD26-6485-E8C6-33A98932E014}"/>
              </a:ext>
            </a:extLst>
          </p:cNvPr>
          <p:cNvSpPr/>
          <p:nvPr/>
        </p:nvSpPr>
        <p:spPr>
          <a:xfrm>
            <a:off x="822960" y="2999232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1DCDC9-2E25-7ABD-1FE9-A8C1A754DF89}"/>
              </a:ext>
            </a:extLst>
          </p:cNvPr>
          <p:cNvSpPr/>
          <p:nvPr/>
        </p:nvSpPr>
        <p:spPr>
          <a:xfrm>
            <a:off x="822960" y="3803904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C44093F-65B1-217E-5229-15A32AE3882F}"/>
              </a:ext>
            </a:extLst>
          </p:cNvPr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12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BACE0B0-2EF2-61A1-4526-C9016C6D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334" y="473488"/>
            <a:ext cx="9951222" cy="611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DAA5B-A682-D656-10CD-78268A5C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2BAD610E-912F-8332-9236-7C144651196E}"/>
              </a:ext>
            </a:extLst>
          </p:cNvPr>
          <p:cNvSpPr/>
          <p:nvPr/>
        </p:nvSpPr>
        <p:spPr>
          <a:xfrm>
            <a:off x="822960" y="2194560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3BFB93-FE1C-009F-148F-7CD6DDFEC2AE}"/>
              </a:ext>
            </a:extLst>
          </p:cNvPr>
          <p:cNvSpPr/>
          <p:nvPr/>
        </p:nvSpPr>
        <p:spPr>
          <a:xfrm>
            <a:off x="822960" y="2999232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BDB81A8-EDD7-A7FD-4D4A-CBE75E7E7661}"/>
              </a:ext>
            </a:extLst>
          </p:cNvPr>
          <p:cNvSpPr/>
          <p:nvPr/>
        </p:nvSpPr>
        <p:spPr>
          <a:xfrm>
            <a:off x="822960" y="3803904"/>
            <a:ext cx="484632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92BDA9B-6B93-9756-1C8B-15B79220F8CA}"/>
              </a:ext>
            </a:extLst>
          </p:cNvPr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</a:rPr>
              <a:t>12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FA19B-6682-2805-F17F-FF56ACF82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30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08813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IAM:  </a:t>
            </a:r>
            <a:r>
              <a:rPr lang="en-US" sz="1250" dirty="0">
                <a:solidFill>
                  <a:srgbClr val="E6F0F5"/>
                </a:solidFill>
              </a:rPr>
              <a:t>Controls who can do what. Users, Groups, Roles &amp; Policies — least privilege, deny-by-default.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65376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EC2:  </a:t>
            </a:r>
            <a:r>
              <a:rPr lang="en-US" sz="1250" dirty="0">
                <a:solidFill>
                  <a:srgbClr val="E6F0F5"/>
                </a:solidFill>
              </a:rPr>
              <a:t>Resizable virtual servers — the compute building block.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S3:  </a:t>
            </a:r>
            <a:r>
              <a:rPr lang="en-US" sz="1250" dirty="0">
                <a:solidFill>
                  <a:srgbClr val="E6F0F5"/>
                </a:solidFill>
              </a:rPr>
              <a:t>Object storage for the internet — durable, region-wide, serverless. Know the storage classes &amp; Versioning/Object Lock rules.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5526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EBS:  </a:t>
            </a:r>
            <a:r>
              <a:rPr lang="en-US" sz="1250" dirty="0">
                <a:solidFill>
                  <a:srgbClr val="E6F0F5"/>
                </a:solidFill>
              </a:rPr>
              <a:t>A virtual hard drive for ONE instance in ONE AZ. Snapshots are incremental and live in S3.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EFS:  </a:t>
            </a:r>
            <a:r>
              <a:rPr lang="en-US" sz="1250" dirty="0">
                <a:solidFill>
                  <a:srgbClr val="E6F0F5"/>
                </a:solidFill>
              </a:rPr>
              <a:t>A shared, elastic NFS file system mounted by MANY instances across a Region.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70001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Aurora &amp; DynamoDB:  </a:t>
            </a:r>
            <a:r>
              <a:rPr lang="en-US" sz="1250" dirty="0">
                <a:solidFill>
                  <a:srgbClr val="E6F0F5"/>
                </a:solidFill>
              </a:rPr>
              <a:t>Aurora = fast, auto-scaling managed relational DB. DynamoDB = serverless, single-digit-ms NoSQL at any scale.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77256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9900"/>
                </a:solidFill>
              </a:rPr>
              <a:t>VPC &amp; CIDR:  </a:t>
            </a:r>
            <a:r>
              <a:rPr lang="en-US" sz="1250" dirty="0">
                <a:solidFill>
                  <a:srgbClr val="E6F0F5"/>
                </a:solidFill>
              </a:rPr>
              <a:t>Your private IP “bucket.” Smaller prefix (e.g. /24) = more IPs; classless design lets you size networks precisely instead of wasting addresses.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8326</TotalTime>
  <Words>2122</Words>
  <Application>Microsoft Office PowerPoint</Application>
  <PresentationFormat>Widescreen</PresentationFormat>
  <Paragraphs>285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Practitioner Essentials</dc:title>
  <dc:subject>PptxGenJS Presentation</dc:subject>
  <dc:creator>Rishabh</dc:creator>
  <cp:lastModifiedBy>Negi, Rishabh (Cognizant)</cp:lastModifiedBy>
  <cp:revision>4</cp:revision>
  <dcterms:created xsi:type="dcterms:W3CDTF">2026-06-21T13:01:33Z</dcterms:created>
  <dcterms:modified xsi:type="dcterms:W3CDTF">2026-06-29T10:27:17Z</dcterms:modified>
</cp:coreProperties>
</file>